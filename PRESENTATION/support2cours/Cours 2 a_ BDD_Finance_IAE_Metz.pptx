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K3QvdgSSrj0fQxSmGNQUS+3mI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5da244161_0_87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5da244161_0_8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3154c70b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d3154c70b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d3154c70b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95da244161_0_99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g395da244161_0_99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g395da244161_0_9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g395da244161_0_99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95da244161_0_99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g395da244161_0_9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395da244161_0_99"/>
          <p:cNvSpPr txBox="1"/>
          <p:nvPr/>
        </p:nvSpPr>
        <p:spPr>
          <a:xfrm>
            <a:off x="0" y="0"/>
            <a:ext cx="419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2"/>
                </a:solidFill>
              </a:rPr>
              <a:t>Cours Data for AUDIT 2024-2025 - IAE METZ 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25" name="Google Shape;25;g395da244161_0_99"/>
          <p:cNvSpPr txBox="1"/>
          <p:nvPr/>
        </p:nvSpPr>
        <p:spPr>
          <a:xfrm>
            <a:off x="0" y="4820400"/>
            <a:ext cx="381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2"/>
                </a:solidFill>
              </a:rPr>
              <a:t>Sitraka FORLER </a:t>
            </a:r>
            <a:endParaRPr sz="9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g395da244161_0_108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g395da244161_0_108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g395da244161_0_10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g395da244161_0_10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g395da244161_0_1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g395da244161_0_1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g395da244161_0_1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g395da244161_0_1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g395da244161_0_1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395da244161_0_1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g395da244161_0_120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g395da244161_0_120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g395da244161_0_1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g395da244161_0_1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g395da244161_0_120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g395da244161_0_120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g395da244161_0_1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5da244161_0_12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g395da244161_0_12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g395da244161_0_13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g395da244161_0_131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g395da244161_0_131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g395da244161_0_13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g395da244161_0_13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g395da244161_0_136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395da244161_0_13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5da244161_0_140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95da244161_0_140"/>
          <p:cNvSpPr txBox="1"/>
          <p:nvPr>
            <p:ph type="title"/>
          </p:nvPr>
        </p:nvSpPr>
        <p:spPr>
          <a:xfrm>
            <a:off x="180550" y="125"/>
            <a:ext cx="3379800" cy="60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g395da244161_0_140"/>
          <p:cNvSpPr txBox="1"/>
          <p:nvPr>
            <p:ph idx="1" type="subTitle"/>
          </p:nvPr>
        </p:nvSpPr>
        <p:spPr>
          <a:xfrm>
            <a:off x="265500" y="903606"/>
            <a:ext cx="3943500" cy="31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2" name="Google Shape;62;g395da244161_0_14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g395da244161_0_14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5da244161_0_146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95da244161_0_146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g395da244161_0_146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g395da244161_0_1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g395da244161_0_14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g395da244161_0_15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g395da244161_0_15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g395da244161_0_152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4" name="Google Shape;74;g395da244161_0_15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g395da244161_0_157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g395da244161_0_157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g395da244161_0_157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g395da244161_0_157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g395da244161_0_15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5da244161_0_16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5da244161_0_9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" name="Google Shape;13;g395da244161_0_9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" name="Google Shape;14;g395da244161_0_9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95da244161_0_93"/>
          <p:cNvSpPr txBox="1"/>
          <p:nvPr/>
        </p:nvSpPr>
        <p:spPr>
          <a:xfrm>
            <a:off x="0" y="4820400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2"/>
                </a:solidFill>
              </a:rPr>
              <a:t>Sitraka FORLER </a:t>
            </a:r>
            <a:endParaRPr sz="900">
              <a:solidFill>
                <a:schemeClr val="lt2"/>
              </a:solidFill>
            </a:endParaRPr>
          </a:p>
        </p:txBody>
      </p:sp>
      <p:pic>
        <p:nvPicPr>
          <p:cNvPr id="16" name="Google Shape;16;g395da244161_0_9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60025" y="4688750"/>
            <a:ext cx="2186667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0A3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"/>
          <p:cNvCxnSpPr/>
          <p:nvPr/>
        </p:nvCxnSpPr>
        <p:spPr>
          <a:xfrm>
            <a:off x="6217920" y="36576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"/>
          <p:cNvCxnSpPr/>
          <p:nvPr/>
        </p:nvCxnSpPr>
        <p:spPr>
          <a:xfrm>
            <a:off x="6217920" y="118872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"/>
          <p:cNvCxnSpPr/>
          <p:nvPr/>
        </p:nvCxnSpPr>
        <p:spPr>
          <a:xfrm>
            <a:off x="6217920" y="201168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"/>
          <p:cNvCxnSpPr/>
          <p:nvPr/>
        </p:nvCxnSpPr>
        <p:spPr>
          <a:xfrm>
            <a:off x="6217920" y="283464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"/>
          <p:cNvCxnSpPr/>
          <p:nvPr/>
        </p:nvCxnSpPr>
        <p:spPr>
          <a:xfrm>
            <a:off x="6217920" y="365760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"/>
          <p:cNvCxnSpPr/>
          <p:nvPr/>
        </p:nvCxnSpPr>
        <p:spPr>
          <a:xfrm>
            <a:off x="6217920" y="4480560"/>
            <a:ext cx="2926080" cy="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"/>
          <p:cNvCxnSpPr/>
          <p:nvPr/>
        </p:nvCxnSpPr>
        <p:spPr>
          <a:xfrm>
            <a:off x="708660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"/>
          <p:cNvCxnSpPr/>
          <p:nvPr/>
        </p:nvCxnSpPr>
        <p:spPr>
          <a:xfrm>
            <a:off x="758952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"/>
          <p:cNvCxnSpPr/>
          <p:nvPr/>
        </p:nvCxnSpPr>
        <p:spPr>
          <a:xfrm>
            <a:off x="809244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"/>
          <p:cNvCxnSpPr/>
          <p:nvPr/>
        </p:nvCxnSpPr>
        <p:spPr>
          <a:xfrm>
            <a:off x="8595360" y="0"/>
            <a:ext cx="0" cy="5143500"/>
          </a:xfrm>
          <a:prstGeom prst="straightConnector1">
            <a:avLst/>
          </a:prstGeom>
          <a:noFill/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57200" y="3657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IAE METZ · MASTER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457200" y="100584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L'Architecture des Données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au Service de la Finance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457200" y="2560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C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99BC0"/>
                </a:solidFill>
                <a:latin typeface="Calibri"/>
                <a:ea typeface="Calibri"/>
                <a:cs typeface="Calibri"/>
                <a:sym typeface="Calibri"/>
              </a:rPr>
              <a:t>De la transaction bancaire au décisionnel stratégique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"/>
          <p:cNvCxnSpPr/>
          <p:nvPr/>
        </p:nvCxnSpPr>
        <p:spPr>
          <a:xfrm>
            <a:off x="457200" y="306324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"/>
          <p:cNvSpPr/>
          <p:nvPr/>
        </p:nvSpPr>
        <p:spPr>
          <a:xfrm>
            <a:off x="457200" y="324612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Sitraka FORLER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C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99BC0"/>
                </a:solidFill>
                <a:latin typeface="Calibri"/>
                <a:ea typeface="Calibri"/>
                <a:cs typeface="Calibri"/>
                <a:sym typeface="Calibri"/>
              </a:rPr>
              <a:t>Enterprise System Architect  ·  POST Luxembourg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9B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99BC0"/>
                </a:solidFill>
                <a:latin typeface="Calibri"/>
                <a:ea typeface="Calibri"/>
                <a:cs typeface="Calibri"/>
                <a:sym typeface="Calibri"/>
              </a:rPr>
              <a:t>Université de Lorraine  ·  IAE de Metz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0" y="54864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>
            <a:off x="7086600" y="58521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SQL / NoSQL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6002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7086600" y="163677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Sécurité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265176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/>
          <p:nvPr/>
        </p:nvSpPr>
        <p:spPr>
          <a:xfrm>
            <a:off x="7086600" y="268833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370332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"/>
          <p:cNvSpPr/>
          <p:nvPr/>
        </p:nvSpPr>
        <p:spPr>
          <a:xfrm>
            <a:off x="7086600" y="3739896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Temps réel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" y="4343421"/>
            <a:ext cx="1017013" cy="625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5da244161_0_87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DATA  </a:t>
            </a:r>
            <a:endParaRPr i="1"/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4</a:t>
            </a:r>
            <a:endParaRPr i="1"/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 Finance M1</a:t>
            </a:r>
            <a:endParaRPr i="1"/>
          </a:p>
        </p:txBody>
      </p:sp>
      <p:sp>
        <p:nvSpPr>
          <p:cNvPr id="122" name="Google Shape;122;g395da244161_0_87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Sitraka FORLER</a:t>
            </a:r>
            <a:endParaRPr b="1" sz="2400"/>
          </a:p>
        </p:txBody>
      </p:sp>
      <p:pic>
        <p:nvPicPr>
          <p:cNvPr id="123" name="Google Shape;123;g395da244161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50" y="1264750"/>
            <a:ext cx="2085467" cy="2085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la donnée est-elle le cœur de la finance 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228600" y="1051560"/>
            <a:ext cx="2103120" cy="35661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12984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/>
          <p:nvPr/>
        </p:nvSpPr>
        <p:spPr>
          <a:xfrm>
            <a:off x="228600" y="20574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 milliards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2"/>
          <p:cNvCxnSpPr/>
          <p:nvPr/>
        </p:nvCxnSpPr>
        <p:spPr>
          <a:xfrm>
            <a:off x="502920" y="2697480"/>
            <a:ext cx="15544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2"/>
          <p:cNvSpPr/>
          <p:nvPr/>
        </p:nvSpPr>
        <p:spPr>
          <a:xfrm>
            <a:off x="320040" y="2788920"/>
            <a:ext cx="1920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transactions/jour sur les marchés financiers mondiaux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2514600" y="1051560"/>
            <a:ext cx="2103120" cy="35661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32004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12984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"/>
          <p:cNvSpPr/>
          <p:nvPr/>
        </p:nvSpPr>
        <p:spPr>
          <a:xfrm>
            <a:off x="2514600" y="20574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10ms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2"/>
          <p:cNvCxnSpPr/>
          <p:nvPr/>
        </p:nvCxnSpPr>
        <p:spPr>
          <a:xfrm>
            <a:off x="2788920" y="2697480"/>
            <a:ext cx="15544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2"/>
          <p:cNvSpPr/>
          <p:nvPr/>
        </p:nvSpPr>
        <p:spPr>
          <a:xfrm>
            <a:off x="2606040" y="2788920"/>
            <a:ext cx="1920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délai cible pour valider une transaction HFT (High Frequency Trading)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4800600" y="1051560"/>
            <a:ext cx="2103120" cy="356616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54864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6128" y="12984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"/>
          <p:cNvSpPr/>
          <p:nvPr/>
        </p:nvSpPr>
        <p:spPr>
          <a:xfrm>
            <a:off x="4800600" y="20574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 tolérance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"/>
          <p:cNvCxnSpPr/>
          <p:nvPr/>
        </p:nvCxnSpPr>
        <p:spPr>
          <a:xfrm>
            <a:off x="5074920" y="2697480"/>
            <a:ext cx="15544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2"/>
          <p:cNvSpPr/>
          <p:nvPr/>
        </p:nvSpPr>
        <p:spPr>
          <a:xfrm>
            <a:off x="4892040" y="2788920"/>
            <a:ext cx="1920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 l'erreur de donnée. 1 chiffre faux = risque financier &amp; légal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7086600" y="1051560"/>
            <a:ext cx="2103120" cy="3566160"/>
          </a:xfrm>
          <a:prstGeom prst="rect">
            <a:avLst/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77724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2128" y="1298448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"/>
          <p:cNvSpPr/>
          <p:nvPr/>
        </p:nvSpPr>
        <p:spPr>
          <a:xfrm>
            <a:off x="7086600" y="20574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Bâle III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2"/>
          <p:cNvCxnSpPr/>
          <p:nvPr/>
        </p:nvCxnSpPr>
        <p:spPr>
          <a:xfrm>
            <a:off x="7360920" y="2697480"/>
            <a:ext cx="155448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2"/>
          <p:cNvSpPr/>
          <p:nvPr/>
        </p:nvSpPr>
        <p:spPr>
          <a:xfrm>
            <a:off x="7178040" y="2788920"/>
            <a:ext cx="19202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RGPD · CSSF · AMF — conformité réglementaire obligatoire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274320" y="4700016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💡  Analogie : la donnée financière est comme l'oxygène — invisible, mais vitale. Une seconde de panne de données = des millions perdus.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Fondement : Les Bases de Données Relationnelles (SQL)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228600" y="1005840"/>
            <a:ext cx="41148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228600" y="1005840"/>
            <a:ext cx="109728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>
            <a:off x="457200" y="102412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Concept clé : tout en tables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57200" y="132588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Données organisées en tables (lignes = entrées, colonnes = attributs). Les tables se connectent via des clés primaires et étrangères — garantissant cohérence et intégrité.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228600" y="2103120"/>
            <a:ext cx="4114800" cy="6858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365760" y="21305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Technologies phares en finance 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365760" y="2377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Oracle  ·  PostgreSQL  ·  Microsoft SQL Server  ·  IBM Db2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>
            <a:off x="228600" y="290779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Le principe ACID — Pourquoi c'est crucial en banque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228600" y="3337560"/>
            <a:ext cx="347472" cy="32004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228600" y="3337560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621792" y="3346704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Atomicité — </a:t>
            </a:r>
            <a:r>
              <a:rPr b="0" i="0" lang="en-US" sz="10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Tout ou rien : un virement est soit 100% réalisé, soit annulé. Jamais à moitié.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>
            <a:off x="228600" y="3721608"/>
            <a:ext cx="347472" cy="3200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228600" y="3721608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621792" y="3730752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Cohérence — </a:t>
            </a:r>
            <a:r>
              <a:rPr b="0" i="0" lang="en-US" sz="10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La base reste dans un état valide. Solde final = solde initial ± opération.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228600" y="4105656"/>
            <a:ext cx="347472" cy="32004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228600" y="4105656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21792" y="4114800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Isolation — </a:t>
            </a:r>
            <a:r>
              <a:rPr b="0" i="0" lang="en-US" sz="10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2 transactions simultanées ne s'interfèrent pas. Pas de lecture "sale".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228600" y="4489704"/>
            <a:ext cx="347472" cy="320040"/>
          </a:xfrm>
          <a:prstGeom prst="rect">
            <a:avLst/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228600" y="4489704"/>
            <a:ext cx="3474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21792" y="4498848"/>
            <a:ext cx="3657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Durabilité — </a:t>
            </a:r>
            <a:r>
              <a:rPr b="0" i="0" lang="en-US" sz="10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Une fois validé (commit), le virement est permanent, même en cas de panne.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4572000" y="1005840"/>
            <a:ext cx="4343400" cy="4023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4572000" y="1005840"/>
            <a:ext cx="4343400" cy="41148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4663440" y="1024128"/>
            <a:ext cx="411480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🏦  Cas d'usage : Virement SEPA Bancaire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4709160" y="1508760"/>
            <a:ext cx="1691640" cy="27432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4709160" y="15087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TABLE : comptes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4709160" y="1783080"/>
            <a:ext cx="1691640" cy="256032"/>
          </a:xfrm>
          <a:prstGeom prst="rect">
            <a:avLst/>
          </a:prstGeom>
          <a:solidFill>
            <a:srgbClr val="F5F3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4754880" y="18013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id_compte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5806440" y="18013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709160" y="2039112"/>
            <a:ext cx="169164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4754880" y="205740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titulaire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5806440" y="205740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709160" y="2295144"/>
            <a:ext cx="1691640" cy="256032"/>
          </a:xfrm>
          <a:prstGeom prst="rect">
            <a:avLst/>
          </a:prstGeom>
          <a:solidFill>
            <a:srgbClr val="F5F3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4754880" y="231343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solde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5806440" y="231343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709160" y="2551176"/>
            <a:ext cx="169164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"/>
          <p:cNvSpPr/>
          <p:nvPr/>
        </p:nvSpPr>
        <p:spPr>
          <a:xfrm>
            <a:off x="4754880" y="256946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iban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806440" y="256946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VARCHAR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6583680" y="1508760"/>
            <a:ext cx="1691640" cy="27432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"/>
          <p:cNvSpPr/>
          <p:nvPr/>
        </p:nvSpPr>
        <p:spPr>
          <a:xfrm>
            <a:off x="6583680" y="15087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TABLE : transactions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6583680" y="1783080"/>
            <a:ext cx="1691640" cy="256032"/>
          </a:xfrm>
          <a:prstGeom prst="rect">
            <a:avLst/>
          </a:prstGeom>
          <a:solidFill>
            <a:srgbClr val="F5F3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"/>
          <p:cNvSpPr/>
          <p:nvPr/>
        </p:nvSpPr>
        <p:spPr>
          <a:xfrm>
            <a:off x="6629400" y="180136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id_tx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7680960" y="1801368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583680" y="2039112"/>
            <a:ext cx="169164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"/>
          <p:cNvSpPr/>
          <p:nvPr/>
        </p:nvSpPr>
        <p:spPr>
          <a:xfrm>
            <a:off x="6629400" y="205740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compte_debit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7680960" y="2057400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6583680" y="2295144"/>
            <a:ext cx="1691640" cy="256032"/>
          </a:xfrm>
          <a:prstGeom prst="rect">
            <a:avLst/>
          </a:prstGeom>
          <a:solidFill>
            <a:srgbClr val="F5F3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"/>
          <p:cNvSpPr/>
          <p:nvPr/>
        </p:nvSpPr>
        <p:spPr>
          <a:xfrm>
            <a:off x="6629400" y="231343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compte_credit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7680960" y="231343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6583680" y="2551176"/>
            <a:ext cx="1691640" cy="2560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"/>
          <p:cNvSpPr/>
          <p:nvPr/>
        </p:nvSpPr>
        <p:spPr>
          <a:xfrm>
            <a:off x="6629400" y="2569464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montant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7680960" y="256946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DECIMAL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3"/>
          <p:cNvCxnSpPr/>
          <p:nvPr/>
        </p:nvCxnSpPr>
        <p:spPr>
          <a:xfrm>
            <a:off x="6446520" y="1901952"/>
            <a:ext cx="13716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3"/>
          <p:cNvSpPr/>
          <p:nvPr/>
        </p:nvSpPr>
        <p:spPr>
          <a:xfrm>
            <a:off x="4663440" y="2926080"/>
            <a:ext cx="4114800" cy="32004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"/>
          <p:cNvSpPr/>
          <p:nvPr/>
        </p:nvSpPr>
        <p:spPr>
          <a:xfrm>
            <a:off x="4709160" y="294436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Scénario réel : Alice vire 500 € à Bob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4663440" y="3328416"/>
            <a:ext cx="274320" cy="2743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4663440" y="33284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5010912" y="33375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DEBUT TRANSACTION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6492240" y="33375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La base verrouille les 2 comptes (Isolation)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"/>
          <p:cNvSpPr/>
          <p:nvPr/>
        </p:nvSpPr>
        <p:spPr>
          <a:xfrm>
            <a:off x="4663440" y="3657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5010912" y="366674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Débit Alice : -500 €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6492240" y="366674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solde_alice = 1200 – 500 = 700 (Cohérence)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4663440" y="3986784"/>
            <a:ext cx="274320" cy="2743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"/>
          <p:cNvSpPr/>
          <p:nvPr/>
        </p:nvSpPr>
        <p:spPr>
          <a:xfrm>
            <a:off x="4663440" y="398678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5010912" y="399592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Crédit Bob : +500 €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6492240" y="399592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solde_bob = 300 + 500 = 800 (Cohérence)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4663440" y="4315968"/>
            <a:ext cx="274320" cy="27432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"/>
          <p:cNvSpPr/>
          <p:nvPr/>
        </p:nvSpPr>
        <p:spPr>
          <a:xfrm>
            <a:off x="4663440" y="4315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/>
          <p:nvPr/>
        </p:nvSpPr>
        <p:spPr>
          <a:xfrm>
            <a:off x="5010912" y="432511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COMMIT  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6492240" y="432511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Permanent sur disque. Même si panne = ok (Durabilité)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4663440" y="4645152"/>
            <a:ext cx="274320" cy="27432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"/>
          <p:cNvSpPr/>
          <p:nvPr/>
        </p:nvSpPr>
        <p:spPr>
          <a:xfrm>
            <a:off x="4663440" y="46451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5010912" y="46542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ROLLBACK  si erreur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6492240" y="4654296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Atomicité : si étape 3 échoue, étape 2 est annulée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Au-delà du SQL : NoSQL, Time-Series &amp; Graphes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228600" y="1005840"/>
            <a:ext cx="8686800" cy="685800"/>
          </a:xfrm>
          <a:prstGeom prst="rect">
            <a:avLst/>
          </a:prstGeom>
          <a:solidFill>
            <a:srgbClr val="FDF4F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"/>
          <p:cNvSpPr/>
          <p:nvPr/>
        </p:nvSpPr>
        <p:spPr>
          <a:xfrm>
            <a:off x="365760" y="102412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⚠️  Les limites du SQL en finance moderne 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365760" y="129844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Schéma rigide (mal adapté aux données non-structurées)   •   Scalabilité verticale coûteuse   •   Pas optimisé pour l'analyse de séries temporelles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228600" y="1810512"/>
            <a:ext cx="2834640" cy="32004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/>
          <p:nvPr/>
        </p:nvSpPr>
        <p:spPr>
          <a:xfrm>
            <a:off x="320040" y="18745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⏱ Time-Series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320040" y="22128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Pour les données horodatées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4"/>
          <p:cNvCxnSpPr/>
          <p:nvPr/>
        </p:nvCxnSpPr>
        <p:spPr>
          <a:xfrm>
            <a:off x="320040" y="249631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4"/>
          <p:cNvSpPr/>
          <p:nvPr/>
        </p:nvSpPr>
        <p:spPr>
          <a:xfrm>
            <a:off x="320040" y="2578608"/>
            <a:ext cx="260604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"/>
          <p:cNvSpPr/>
          <p:nvPr/>
        </p:nvSpPr>
        <p:spPr>
          <a:xfrm>
            <a:off x="320040" y="25786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InfluxDB  ·  Kdb+  ·  TimescaleDB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320040" y="2926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Stocke des millions de points de données par seconde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320040" y="32644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Requêtes ultra-rapides sur intervalles de temps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320040" y="36027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Compressions spécialisées = 10× moins de stockage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228600" y="4325112"/>
            <a:ext cx="2834640" cy="658368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4"/>
          <p:cNvSpPr/>
          <p:nvPr/>
        </p:nvSpPr>
        <p:spPr>
          <a:xfrm>
            <a:off x="320040" y="434340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💼 Cours de bourse en temps réel, tick data, taux de change EUR/USD toutes les millisecondes.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3127248" y="1810512"/>
            <a:ext cx="2834640" cy="32004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"/>
          <p:cNvSpPr/>
          <p:nvPr/>
        </p:nvSpPr>
        <p:spPr>
          <a:xfrm>
            <a:off x="3218688" y="18745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🕸 Graph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"/>
          <p:cNvSpPr/>
          <p:nvPr/>
        </p:nvSpPr>
        <p:spPr>
          <a:xfrm>
            <a:off x="3218688" y="22128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Pour les réseaux de relations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4"/>
          <p:cNvCxnSpPr/>
          <p:nvPr/>
        </p:nvCxnSpPr>
        <p:spPr>
          <a:xfrm>
            <a:off x="3218688" y="249631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4"/>
          <p:cNvSpPr/>
          <p:nvPr/>
        </p:nvSpPr>
        <p:spPr>
          <a:xfrm>
            <a:off x="3218688" y="2578608"/>
            <a:ext cx="260604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"/>
          <p:cNvSpPr/>
          <p:nvPr/>
        </p:nvSpPr>
        <p:spPr>
          <a:xfrm>
            <a:off x="3218688" y="25786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Neo4j  ·  Amazon Neptune  ·  TigerGraph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218688" y="2926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Modélise des relations complexes (nœuds &amp; arêtes)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3218688" y="32644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Traversée de graphe en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3218688" y="36027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Détecte des patterns invisibles en 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3127248" y="4325112"/>
            <a:ext cx="2834640" cy="658368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3218688" y="434340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💼 Lutte anti-blanchiment (AML) : détecter un réseau de sociétés écrans en &lt; 1 seconde.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6016752" y="1810512"/>
            <a:ext cx="2834640" cy="320040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"/>
          <p:cNvSpPr/>
          <p:nvPr/>
        </p:nvSpPr>
        <p:spPr>
          <a:xfrm>
            <a:off x="6108192" y="18745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📄 Document 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6108192" y="22128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Pour les données semi-structurées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4"/>
          <p:cNvCxnSpPr/>
          <p:nvPr/>
        </p:nvCxnSpPr>
        <p:spPr>
          <a:xfrm>
            <a:off x="6108192" y="249631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4"/>
          <p:cNvSpPr/>
          <p:nvPr/>
        </p:nvSpPr>
        <p:spPr>
          <a:xfrm>
            <a:off x="6108192" y="2578608"/>
            <a:ext cx="2606040" cy="256032"/>
          </a:xfrm>
          <a:prstGeom prst="rect">
            <a:avLst/>
          </a:prstGeom>
          <a:solidFill>
            <a:srgbClr val="FFFFFF">
              <a:alpha val="80000"/>
            </a:srgbClr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4"/>
          <p:cNvSpPr/>
          <p:nvPr/>
        </p:nvSpPr>
        <p:spPr>
          <a:xfrm>
            <a:off x="6108192" y="257860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 ·  Elasticsearch  ·  Couchbase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6108192" y="29260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Stockage JSON flexible (pas de schéma fixe)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6108192" y="326440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Idéal pour les contrats, KYC, profils clients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6108192" y="360273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 full-text ultra-performante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6016752" y="4325112"/>
            <a:ext cx="2834640" cy="658368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FFFF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"/>
          <p:cNvSpPr/>
          <p:nvPr/>
        </p:nvSpPr>
        <p:spPr>
          <a:xfrm>
            <a:off x="6108192" y="434340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💼 Référentiel client 360° (CRM bancaire), stockage de contrats d'assurance, recherche de documents.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L'Architecture Data d'une Banque (Vue Architecte)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"/>
          <p:cNvSpPr/>
          <p:nvPr/>
        </p:nvSpPr>
        <p:spPr>
          <a:xfrm>
            <a:off x="228600" y="1005840"/>
            <a:ext cx="8686800" cy="118872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5"/>
          <p:cNvSpPr/>
          <p:nvPr/>
        </p:nvSpPr>
        <p:spPr>
          <a:xfrm>
            <a:off x="7680960" y="1078992"/>
            <a:ext cx="1143000" cy="256032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"/>
          <p:cNvSpPr/>
          <p:nvPr/>
        </p:nvSpPr>
        <p:spPr>
          <a:xfrm>
            <a:off x="7680960" y="107899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&lt; 10ms par tx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5"/>
          <p:cNvSpPr/>
          <p:nvPr/>
        </p:nvSpPr>
        <p:spPr>
          <a:xfrm>
            <a:off x="365760" y="106070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OLTP — Opérationnel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"/>
          <p:cNvSpPr/>
          <p:nvPr/>
        </p:nvSpPr>
        <p:spPr>
          <a:xfrm>
            <a:off x="365760" y="137160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Le quotidien en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5"/>
          <p:cNvCxnSpPr/>
          <p:nvPr/>
        </p:nvCxnSpPr>
        <p:spPr>
          <a:xfrm>
            <a:off x="365760" y="1655064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5"/>
          <p:cNvSpPr/>
          <p:nvPr/>
        </p:nvSpPr>
        <p:spPr>
          <a:xfrm>
            <a:off x="365760" y="170078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Traitement des transactions (paiements, virements, prêts). Optimisé pour les écritures rapides. Base relationnelle SQL — ACID obligatoire.  —  App mobile bancaire  ·  DAB/ATM  ·  Core Banking System (Oracle, SAP)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228600" y="2350008"/>
            <a:ext cx="8686800" cy="11887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7680960" y="2423160"/>
            <a:ext cx="1143000" cy="256032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7680960" y="2423160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Requêtes en heures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365760" y="2404872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+ Data Warehouse (OLAP)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365760" y="27157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Le reporting et l'analyse historique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5"/>
          <p:cNvCxnSpPr/>
          <p:nvPr/>
        </p:nvCxnSpPr>
        <p:spPr>
          <a:xfrm>
            <a:off x="365760" y="2999232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5"/>
          <p:cNvSpPr/>
          <p:nvPr/>
        </p:nvSpPr>
        <p:spPr>
          <a:xfrm>
            <a:off x="365760" y="304495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Agrège les données OLTP la nuit (batch). Optimisé pour les lectures analytiques. SQL mais sur des volumes massifs (téra-octets).  —  Reporting réglementaire FINREP  ·  Clôture comptable  ·  Tableaux de bord 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228600" y="3703320"/>
            <a:ext cx="8686800" cy="118872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"/>
          <p:cNvSpPr/>
          <p:nvPr/>
        </p:nvSpPr>
        <p:spPr>
          <a:xfrm>
            <a:off x="7680960" y="3776472"/>
            <a:ext cx="1143000" cy="256032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5"/>
          <p:cNvSpPr/>
          <p:nvPr/>
        </p:nvSpPr>
        <p:spPr>
          <a:xfrm>
            <a:off x="7680960" y="3776472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Peta-octets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365760" y="3758184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Lake + Machine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5"/>
          <p:cNvSpPr/>
          <p:nvPr/>
        </p:nvSpPr>
        <p:spPr>
          <a:xfrm>
            <a:off x="365760" y="406908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L'intelligence prédictive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5"/>
          <p:cNvCxnSpPr/>
          <p:nvPr/>
        </p:nvCxnSpPr>
        <p:spPr>
          <a:xfrm>
            <a:off x="365760" y="4352544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5"/>
          <p:cNvSpPr/>
          <p:nvPr/>
        </p:nvSpPr>
        <p:spPr>
          <a:xfrm>
            <a:off x="365760" y="4398264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Stockage brut de tout (structuré + non-structuré). Les Data Scientists entraînent des modèles ML pour prédire le risque, détecter la fraude.  —  Scoring de crédit ML  ·  Modèles de risque de marché  ·  Analyse comportementale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5"/>
          <p:cNvCxnSpPr/>
          <p:nvPr/>
        </p:nvCxnSpPr>
        <p:spPr>
          <a:xfrm>
            <a:off x="4297680" y="2176272"/>
            <a:ext cx="0" cy="155448"/>
          </a:xfrm>
          <a:prstGeom prst="straightConnector1">
            <a:avLst/>
          </a:prstGeom>
          <a:noFill/>
          <a:ln cap="flat" cmpd="sng" w="3175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5"/>
          <p:cNvSpPr/>
          <p:nvPr/>
        </p:nvSpPr>
        <p:spPr>
          <a:xfrm>
            <a:off x="4133088" y="2267712"/>
            <a:ext cx="329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5"/>
          <p:cNvSpPr/>
          <p:nvPr/>
        </p:nvSpPr>
        <p:spPr>
          <a:xfrm>
            <a:off x="4709160" y="217627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ETL / Flux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5"/>
          <p:cNvCxnSpPr/>
          <p:nvPr/>
        </p:nvCxnSpPr>
        <p:spPr>
          <a:xfrm>
            <a:off x="4297680" y="3538728"/>
            <a:ext cx="0" cy="155448"/>
          </a:xfrm>
          <a:prstGeom prst="straightConnector1">
            <a:avLst/>
          </a:prstGeom>
          <a:noFill/>
          <a:ln cap="flat" cmpd="sng" w="3175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5"/>
          <p:cNvSpPr/>
          <p:nvPr/>
        </p:nvSpPr>
        <p:spPr>
          <a:xfrm>
            <a:off x="4133088" y="3630168"/>
            <a:ext cx="3291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4709160" y="353872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ETL / Flux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3154c70ba_0_0"/>
          <p:cNvSpPr/>
          <p:nvPr/>
        </p:nvSpPr>
        <p:spPr>
          <a:xfrm>
            <a:off x="0" y="0"/>
            <a:ext cx="9144000" cy="8229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d3154c70ba_0_0"/>
          <p:cNvSpPr/>
          <p:nvPr/>
        </p:nvSpPr>
        <p:spPr>
          <a:xfrm>
            <a:off x="0" y="822960"/>
            <a:ext cx="9144000" cy="639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d3154c70ba_0_0"/>
          <p:cNvSpPr/>
          <p:nvPr/>
        </p:nvSpPr>
        <p:spPr>
          <a:xfrm>
            <a:off x="365760" y="0"/>
            <a:ext cx="841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L'Architecture Data d'une Banque (Vue Architecte)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d3154c70ba_0_0"/>
          <p:cNvSpPr/>
          <p:nvPr/>
        </p:nvSpPr>
        <p:spPr>
          <a:xfrm>
            <a:off x="228600" y="1005840"/>
            <a:ext cx="8686800" cy="11886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3154c70ba_0_0"/>
          <p:cNvSpPr/>
          <p:nvPr/>
        </p:nvSpPr>
        <p:spPr>
          <a:xfrm>
            <a:off x="7680960" y="1078992"/>
            <a:ext cx="1143000" cy="2559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3154c70ba_0_0"/>
          <p:cNvSpPr/>
          <p:nvPr/>
        </p:nvSpPr>
        <p:spPr>
          <a:xfrm>
            <a:off x="7680960" y="1078992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&lt; 10ms par tx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d3154c70ba_0_0"/>
          <p:cNvSpPr/>
          <p:nvPr/>
        </p:nvSpPr>
        <p:spPr>
          <a:xfrm>
            <a:off x="365760" y="1060704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OLTP — Opérationnel : Online transaction 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3154c70ba_0_0"/>
          <p:cNvSpPr/>
          <p:nvPr/>
        </p:nvSpPr>
        <p:spPr>
          <a:xfrm>
            <a:off x="365760" y="137160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Le quotidien en temps réel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g3d3154c70ba_0_0"/>
          <p:cNvCxnSpPr/>
          <p:nvPr/>
        </p:nvCxnSpPr>
        <p:spPr>
          <a:xfrm>
            <a:off x="365760" y="1655064"/>
            <a:ext cx="8321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g3d3154c70ba_0_0"/>
          <p:cNvSpPr/>
          <p:nvPr/>
        </p:nvSpPr>
        <p:spPr>
          <a:xfrm>
            <a:off x="365760" y="170078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Traitement des transactions (paiements, virements, prêts). Optimisé pour les écritures rapides. Base relationnelle SQL — ACID obligatoire.  —  App mobile bancaire  ·  DAB/ATM  ·  Core Banking System (Oracle, SAP)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d3154c70ba_0_0"/>
          <p:cNvSpPr/>
          <p:nvPr/>
        </p:nvSpPr>
        <p:spPr>
          <a:xfrm>
            <a:off x="228600" y="2350008"/>
            <a:ext cx="8686800" cy="11886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d3154c70ba_0_0"/>
          <p:cNvSpPr/>
          <p:nvPr/>
        </p:nvSpPr>
        <p:spPr>
          <a:xfrm>
            <a:off x="7680960" y="2423160"/>
            <a:ext cx="1143000" cy="2559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d3154c70ba_0_0"/>
          <p:cNvSpPr/>
          <p:nvPr/>
        </p:nvSpPr>
        <p:spPr>
          <a:xfrm>
            <a:off x="7680960" y="2423160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Requêtes en heures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3154c70ba_0_0"/>
          <p:cNvSpPr/>
          <p:nvPr/>
        </p:nvSpPr>
        <p:spPr>
          <a:xfrm>
            <a:off x="365760" y="2404872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+ Data Warehouse (OLAP)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d3154c70ba_0_0"/>
          <p:cNvSpPr/>
          <p:nvPr/>
        </p:nvSpPr>
        <p:spPr>
          <a:xfrm>
            <a:off x="365760" y="271576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Le reporting et l'analyse historique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g3d3154c70ba_0_0"/>
          <p:cNvCxnSpPr/>
          <p:nvPr/>
        </p:nvCxnSpPr>
        <p:spPr>
          <a:xfrm>
            <a:off x="365760" y="2999232"/>
            <a:ext cx="8321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g3d3154c70ba_0_0"/>
          <p:cNvSpPr/>
          <p:nvPr/>
        </p:nvSpPr>
        <p:spPr>
          <a:xfrm>
            <a:off x="365760" y="3044952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Agrège les données OLTP la nuit (batch). Optimisé pour les lectures analytiques. SQL mais sur des volumes massifs (téra-octets).  —  Reporting réglementaire FINREP  ·  Clôture comptable  ·  Tableaux de bord BI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d3154c70ba_0_0"/>
          <p:cNvSpPr/>
          <p:nvPr/>
        </p:nvSpPr>
        <p:spPr>
          <a:xfrm>
            <a:off x="228600" y="3703320"/>
            <a:ext cx="8686800" cy="118860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d3154c70ba_0_0"/>
          <p:cNvSpPr/>
          <p:nvPr/>
        </p:nvSpPr>
        <p:spPr>
          <a:xfrm>
            <a:off x="7680960" y="3776472"/>
            <a:ext cx="1143000" cy="2559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d3154c70ba_0_0"/>
          <p:cNvSpPr/>
          <p:nvPr/>
        </p:nvSpPr>
        <p:spPr>
          <a:xfrm>
            <a:off x="7680960" y="3776472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Peta-octets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3d3154c70ba_0_0"/>
          <p:cNvSpPr/>
          <p:nvPr/>
        </p:nvSpPr>
        <p:spPr>
          <a:xfrm>
            <a:off x="365760" y="3758184"/>
            <a:ext cx="4572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Lake + Machine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d3154c70ba_0_0"/>
          <p:cNvSpPr/>
          <p:nvPr/>
        </p:nvSpPr>
        <p:spPr>
          <a:xfrm>
            <a:off x="365760" y="406908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L'intelligence prédictive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g3d3154c70ba_0_0"/>
          <p:cNvCxnSpPr/>
          <p:nvPr/>
        </p:nvCxnSpPr>
        <p:spPr>
          <a:xfrm>
            <a:off x="365760" y="4352544"/>
            <a:ext cx="83211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g3d3154c70ba_0_0"/>
          <p:cNvSpPr/>
          <p:nvPr/>
        </p:nvSpPr>
        <p:spPr>
          <a:xfrm>
            <a:off x="365760" y="439826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Stockage brut de tout (structuré + non-structuré). Les Data Scientists entraînent des modèles ML pour prédire le risque, détecter la fraude.  —  Scoring de crédit ML  ·  Modèles de risque de marché  ·  Analyse comportementale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g3d3154c70ba_0_0"/>
          <p:cNvCxnSpPr/>
          <p:nvPr/>
        </p:nvCxnSpPr>
        <p:spPr>
          <a:xfrm>
            <a:off x="4297680" y="2176272"/>
            <a:ext cx="0" cy="155400"/>
          </a:xfrm>
          <a:prstGeom prst="straightConnector1">
            <a:avLst/>
          </a:prstGeom>
          <a:noFill/>
          <a:ln cap="flat" cmpd="sng" w="3175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g3d3154c70ba_0_0"/>
          <p:cNvSpPr/>
          <p:nvPr/>
        </p:nvSpPr>
        <p:spPr>
          <a:xfrm>
            <a:off x="4133088" y="2267712"/>
            <a:ext cx="3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d3154c70ba_0_0"/>
          <p:cNvSpPr/>
          <p:nvPr/>
        </p:nvSpPr>
        <p:spPr>
          <a:xfrm>
            <a:off x="4709160" y="2176272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ETL / Flux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g3d3154c70ba_0_0"/>
          <p:cNvCxnSpPr/>
          <p:nvPr/>
        </p:nvCxnSpPr>
        <p:spPr>
          <a:xfrm>
            <a:off x="4297680" y="3538728"/>
            <a:ext cx="0" cy="155400"/>
          </a:xfrm>
          <a:prstGeom prst="straightConnector1">
            <a:avLst/>
          </a:prstGeom>
          <a:noFill/>
          <a:ln cap="flat" cmpd="sng" w="3175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d3154c70ba_0_0"/>
          <p:cNvSpPr/>
          <p:nvPr/>
        </p:nvSpPr>
        <p:spPr>
          <a:xfrm>
            <a:off x="4133088" y="3630168"/>
            <a:ext cx="3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d3154c70ba_0_0"/>
          <p:cNvSpPr/>
          <p:nvPr/>
        </p:nvSpPr>
        <p:spPr>
          <a:xfrm>
            <a:off x="4709160" y="3538728"/>
            <a:ext cx="201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ETL / Flux de données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g3d3154c70b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0A38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6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Cybersécurité &amp; Gouvernance des Données Financières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6"/>
          <p:cNvSpPr/>
          <p:nvPr/>
        </p:nvSpPr>
        <p:spPr>
          <a:xfrm>
            <a:off x="228600" y="1005840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328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6"/>
          <p:cNvSpPr/>
          <p:nvPr/>
        </p:nvSpPr>
        <p:spPr>
          <a:xfrm>
            <a:off x="1920240" y="1078992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6"/>
          <p:cNvSpPr/>
          <p:nvPr/>
        </p:nvSpPr>
        <p:spPr>
          <a:xfrm>
            <a:off x="1920240" y="10789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AES-256 · TDE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777240" y="11155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Chiffrement at Rest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2" name="Google Shape;372;p6"/>
          <p:cNvCxnSpPr/>
          <p:nvPr/>
        </p:nvCxnSpPr>
        <p:spPr>
          <a:xfrm>
            <a:off x="338328" y="153619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6"/>
          <p:cNvSpPr/>
          <p:nvPr/>
        </p:nvSpPr>
        <p:spPr>
          <a:xfrm>
            <a:off x="338328" y="1609344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Toutes les données stockées (disques, backups) sont chiffrées. Algorithme AES-256. Même si un disque est volé, les données sont illisibles.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3127248" y="1005840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6"/>
          <p:cNvSpPr/>
          <p:nvPr/>
        </p:nvSpPr>
        <p:spPr>
          <a:xfrm>
            <a:off x="4818888" y="1078992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6"/>
          <p:cNvSpPr/>
          <p:nvPr/>
        </p:nvSpPr>
        <p:spPr>
          <a:xfrm>
            <a:off x="4818888" y="10789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TLS 1.3 · HTTPS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6"/>
          <p:cNvSpPr/>
          <p:nvPr/>
        </p:nvSpPr>
        <p:spPr>
          <a:xfrm>
            <a:off x="3675888" y="11155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Chiffrement in Transit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9" name="Google Shape;379;p6"/>
          <p:cNvCxnSpPr/>
          <p:nvPr/>
        </p:nvCxnSpPr>
        <p:spPr>
          <a:xfrm>
            <a:off x="3236976" y="153619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6"/>
          <p:cNvSpPr/>
          <p:nvPr/>
        </p:nvSpPr>
        <p:spPr>
          <a:xfrm>
            <a:off x="3236976" y="1609344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Toutes les communications sont chiffrées (TLS 1.3). Un packet réseau intercepté ne révèle rien. Obligatoire pour PSD2 &amp; RGPD.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6"/>
          <p:cNvSpPr/>
          <p:nvPr/>
        </p:nvSpPr>
        <p:spPr>
          <a:xfrm>
            <a:off x="6035040" y="1005840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11155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6"/>
          <p:cNvSpPr/>
          <p:nvPr/>
        </p:nvSpPr>
        <p:spPr>
          <a:xfrm>
            <a:off x="7726680" y="1078992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6"/>
          <p:cNvSpPr/>
          <p:nvPr/>
        </p:nvSpPr>
        <p:spPr>
          <a:xfrm>
            <a:off x="7726680" y="1078992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RBAC · Zero Trust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6"/>
          <p:cNvSpPr/>
          <p:nvPr/>
        </p:nvSpPr>
        <p:spPr>
          <a:xfrm>
            <a:off x="6583680" y="11155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IAM — Gestion des accès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6" name="Google Shape;386;p6"/>
          <p:cNvCxnSpPr/>
          <p:nvPr/>
        </p:nvCxnSpPr>
        <p:spPr>
          <a:xfrm>
            <a:off x="6144768" y="1536192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6"/>
          <p:cNvSpPr/>
          <p:nvPr/>
        </p:nvSpPr>
        <p:spPr>
          <a:xfrm>
            <a:off x="6144768" y="1609344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Principe du moindre privilège (RBAC) : chaque utilisateur/système n'accède qu'aux données strictement nécessaires à sa fonction.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228600" y="2990088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8328" y="30998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"/>
          <p:cNvSpPr/>
          <p:nvPr/>
        </p:nvSpPr>
        <p:spPr>
          <a:xfrm>
            <a:off x="1920240" y="3063240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6"/>
          <p:cNvSpPr/>
          <p:nvPr/>
        </p:nvSpPr>
        <p:spPr>
          <a:xfrm>
            <a:off x="1920240" y="3063240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Logs · SIEM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777240" y="309981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Auditabilité totale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3" name="Google Shape;393;p6"/>
          <p:cNvCxnSpPr/>
          <p:nvPr/>
        </p:nvCxnSpPr>
        <p:spPr>
          <a:xfrm>
            <a:off x="338328" y="35204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6"/>
          <p:cNvSpPr/>
          <p:nvPr/>
        </p:nvSpPr>
        <p:spPr>
          <a:xfrm>
            <a:off x="338328" y="3593592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Chaque requête est loggée : qui, quand, quelle donnée. Obligatoire CSSF/AMF. Idéal pour détecter les accès suspects ou les fuites internes.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3127248" y="2990088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6" name="Google Shape;39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36976" y="30998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"/>
          <p:cNvSpPr/>
          <p:nvPr/>
        </p:nvSpPr>
        <p:spPr>
          <a:xfrm>
            <a:off x="4818888" y="3063240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6"/>
          <p:cNvSpPr/>
          <p:nvPr/>
        </p:nvSpPr>
        <p:spPr>
          <a:xfrm>
            <a:off x="4818888" y="3063240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Data Masking · RGPD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3675888" y="309981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Masquage des données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6"/>
          <p:cNvCxnSpPr/>
          <p:nvPr/>
        </p:nvCxnSpPr>
        <p:spPr>
          <a:xfrm>
            <a:off x="3236976" y="35204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6"/>
          <p:cNvSpPr/>
          <p:nvPr/>
        </p:nvSpPr>
        <p:spPr>
          <a:xfrm>
            <a:off x="3236976" y="3593592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En DEV/TEST, les données réelles sont masquées (ex: IBAN → XXXXXXXX). Évite que les développeurs voient les vraies données clients.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6035040" y="2990088"/>
            <a:ext cx="2834640" cy="187452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3" name="Google Shape;40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44768" y="30998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6"/>
          <p:cNvSpPr/>
          <p:nvPr/>
        </p:nvSpPr>
        <p:spPr>
          <a:xfrm>
            <a:off x="7726680" y="3063240"/>
            <a:ext cx="1051560" cy="237744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6"/>
          <p:cNvSpPr/>
          <p:nvPr/>
        </p:nvSpPr>
        <p:spPr>
          <a:xfrm>
            <a:off x="7726680" y="3063240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RPO/RTO · HA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6583680" y="3099816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Plans de continuité (BCP)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6"/>
          <p:cNvCxnSpPr/>
          <p:nvPr/>
        </p:nvCxnSpPr>
        <p:spPr>
          <a:xfrm>
            <a:off x="6144768" y="3520440"/>
            <a:ext cx="260604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6"/>
          <p:cNvSpPr/>
          <p:nvPr/>
        </p:nvSpPr>
        <p:spPr>
          <a:xfrm>
            <a:off x="6144768" y="3593592"/>
            <a:ext cx="26060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Réplication multi-site, backups automatiques, RPO (0 perte) et RTO (&lt; 1h de reprise). La donnée est la continuité de l'activité.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"/>
          <p:cNvSpPr/>
          <p:nvPr/>
        </p:nvSpPr>
        <p:spPr>
          <a:xfrm>
            <a:off x="274320" y="4700016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📌  Chez POST Luxembourg : données de millions d'abonnés &amp; de transactions financières soumises à la réglementation CSSF et RGPD — ces pratiques sont quotidiennes.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7"/>
          <p:cNvSpPr/>
          <p:nvPr/>
        </p:nvSpPr>
        <p:spPr>
          <a:xfrm>
            <a:off x="0" y="822960"/>
            <a:ext cx="9144000" cy="64008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 Pratique : Détection de Fraude Bancaire en Temps Réel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7"/>
          <p:cNvSpPr/>
          <p:nvPr/>
        </p:nvSpPr>
        <p:spPr>
          <a:xfrm>
            <a:off x="228600" y="960120"/>
            <a:ext cx="8686800" cy="475488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7"/>
          <p:cNvSpPr/>
          <p:nvPr/>
        </p:nvSpPr>
        <p:spPr>
          <a:xfrm>
            <a:off x="365760" y="97840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🎯  Problème : Comment une banque autorise ou bloque un paiement carte en &lt; 50ms tout en vérifiant la fraude 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7"/>
          <p:cNvCxnSpPr/>
          <p:nvPr/>
        </p:nvCxnSpPr>
        <p:spPr>
          <a:xfrm>
            <a:off x="1783080" y="19385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7"/>
          <p:cNvSpPr/>
          <p:nvPr/>
        </p:nvSpPr>
        <p:spPr>
          <a:xfrm>
            <a:off x="1947678" y="1856225"/>
            <a:ext cx="34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7"/>
          <p:cNvSpPr/>
          <p:nvPr/>
        </p:nvSpPr>
        <p:spPr>
          <a:xfrm>
            <a:off x="731520" y="1481328"/>
            <a:ext cx="548640" cy="548640"/>
          </a:xfrm>
          <a:prstGeom prst="ellipse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73152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7"/>
          <p:cNvSpPr/>
          <p:nvPr/>
        </p:nvSpPr>
        <p:spPr>
          <a:xfrm>
            <a:off x="228600" y="2103120"/>
            <a:ext cx="1554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"/>
          <p:cNvSpPr/>
          <p:nvPr/>
        </p:nvSpPr>
        <p:spPr>
          <a:xfrm>
            <a:off x="228600" y="2103120"/>
            <a:ext cx="1554480" cy="91440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"/>
          <p:cNvSpPr/>
          <p:nvPr/>
        </p:nvSpPr>
        <p:spPr>
          <a:xfrm>
            <a:off x="228600" y="2194560"/>
            <a:ext cx="1554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Achat client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7"/>
          <p:cNvSpPr/>
          <p:nvPr/>
        </p:nvSpPr>
        <p:spPr>
          <a:xfrm>
            <a:off x="283464" y="251460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Marie paie 250 € en ligne à Paris.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Demande d'autorisation envoyée en &lt; 1ms.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7"/>
          <p:cNvSpPr/>
          <p:nvPr/>
        </p:nvSpPr>
        <p:spPr>
          <a:xfrm>
            <a:off x="365760" y="3090672"/>
            <a:ext cx="1280160" cy="402336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36576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SQL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(Core Banking)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2" name="Google Shape;432;p7"/>
          <p:cNvCxnSpPr/>
          <p:nvPr/>
        </p:nvCxnSpPr>
        <p:spPr>
          <a:xfrm>
            <a:off x="3566160" y="19385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7"/>
          <p:cNvSpPr/>
          <p:nvPr/>
        </p:nvSpPr>
        <p:spPr>
          <a:xfrm>
            <a:off x="3730752" y="1856232"/>
            <a:ext cx="18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7"/>
          <p:cNvSpPr/>
          <p:nvPr/>
        </p:nvSpPr>
        <p:spPr>
          <a:xfrm>
            <a:off x="2514600" y="1481328"/>
            <a:ext cx="548640" cy="5486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7"/>
          <p:cNvSpPr/>
          <p:nvPr/>
        </p:nvSpPr>
        <p:spPr>
          <a:xfrm>
            <a:off x="251460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7"/>
          <p:cNvSpPr/>
          <p:nvPr/>
        </p:nvSpPr>
        <p:spPr>
          <a:xfrm>
            <a:off x="2011680" y="2103120"/>
            <a:ext cx="1554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7"/>
          <p:cNvSpPr/>
          <p:nvPr/>
        </p:nvSpPr>
        <p:spPr>
          <a:xfrm>
            <a:off x="2011680" y="2103120"/>
            <a:ext cx="1554480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"/>
          <p:cNvSpPr/>
          <p:nvPr/>
        </p:nvSpPr>
        <p:spPr>
          <a:xfrm>
            <a:off x="2011680" y="2194560"/>
            <a:ext cx="1554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Flux temps réel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7"/>
          <p:cNvSpPr/>
          <p:nvPr/>
        </p:nvSpPr>
        <p:spPr>
          <a:xfrm>
            <a:off x="2066544" y="251460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La transaction est publiée sur un bus 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messagerie (Kafka) en parallèle.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7"/>
          <p:cNvSpPr/>
          <p:nvPr/>
        </p:nvSpPr>
        <p:spPr>
          <a:xfrm>
            <a:off x="2148840" y="3090672"/>
            <a:ext cx="1280160" cy="40233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"/>
          <p:cNvSpPr/>
          <p:nvPr/>
        </p:nvSpPr>
        <p:spPr>
          <a:xfrm>
            <a:off x="214884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(Streaming)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7"/>
          <p:cNvCxnSpPr/>
          <p:nvPr/>
        </p:nvCxnSpPr>
        <p:spPr>
          <a:xfrm>
            <a:off x="5349240" y="19385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7"/>
          <p:cNvSpPr/>
          <p:nvPr/>
        </p:nvSpPr>
        <p:spPr>
          <a:xfrm>
            <a:off x="5513832" y="18562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4297680" y="1481328"/>
            <a:ext cx="548640" cy="54864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7"/>
          <p:cNvSpPr/>
          <p:nvPr/>
        </p:nvSpPr>
        <p:spPr>
          <a:xfrm>
            <a:off x="429768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3794760" y="2103120"/>
            <a:ext cx="1554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7"/>
          <p:cNvSpPr/>
          <p:nvPr/>
        </p:nvSpPr>
        <p:spPr>
          <a:xfrm>
            <a:off x="3794760" y="2103120"/>
            <a:ext cx="1554480" cy="91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"/>
          <p:cNvSpPr/>
          <p:nvPr/>
        </p:nvSpPr>
        <p:spPr>
          <a:xfrm>
            <a:off x="3794760" y="2194560"/>
            <a:ext cx="1554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Analyse de risque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3849624" y="251460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Règles + modèle ML consultent l'historique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des transactions de Marie (last 30 jours).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3931920" y="3090672"/>
            <a:ext cx="1280160" cy="40233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7"/>
          <p:cNvSpPr/>
          <p:nvPr/>
        </p:nvSpPr>
        <p:spPr>
          <a:xfrm>
            <a:off x="393192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DB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Time-Series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2" name="Google Shape;452;p7"/>
          <p:cNvCxnSpPr/>
          <p:nvPr/>
        </p:nvCxnSpPr>
        <p:spPr>
          <a:xfrm>
            <a:off x="7132320" y="193852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3" name="Google Shape;453;p7"/>
          <p:cNvSpPr/>
          <p:nvPr/>
        </p:nvSpPr>
        <p:spPr>
          <a:xfrm>
            <a:off x="7296912" y="18562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6080760" y="1481328"/>
            <a:ext cx="548640" cy="548640"/>
          </a:xfrm>
          <a:prstGeom prst="ellipse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7"/>
          <p:cNvSpPr/>
          <p:nvPr/>
        </p:nvSpPr>
        <p:spPr>
          <a:xfrm>
            <a:off x="608076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5577840" y="2103120"/>
            <a:ext cx="1554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7"/>
          <p:cNvSpPr/>
          <p:nvPr/>
        </p:nvSpPr>
        <p:spPr>
          <a:xfrm>
            <a:off x="5577840" y="2103120"/>
            <a:ext cx="1554480" cy="91440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7"/>
          <p:cNvSpPr/>
          <p:nvPr/>
        </p:nvSpPr>
        <p:spPr>
          <a:xfrm>
            <a:off x="5577840" y="2194560"/>
            <a:ext cx="1554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Score de fraude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5632704" y="251460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Score calculé : 0.03 (faible risque).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Marie a l'habitude de payer à Paris.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5715000" y="3090672"/>
            <a:ext cx="1280160" cy="402336"/>
          </a:xfrm>
          <a:prstGeom prst="rect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7"/>
          <p:cNvSpPr/>
          <p:nvPr/>
        </p:nvSpPr>
        <p:spPr>
          <a:xfrm>
            <a:off x="571500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(Python / Spark)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7863840" y="1481328"/>
            <a:ext cx="548640" cy="54864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"/>
          <p:cNvSpPr/>
          <p:nvPr/>
        </p:nvSpPr>
        <p:spPr>
          <a:xfrm>
            <a:off x="7863840" y="14813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7360920" y="2103120"/>
            <a:ext cx="15544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DE9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"/>
          <p:cNvSpPr/>
          <p:nvPr/>
        </p:nvSpPr>
        <p:spPr>
          <a:xfrm>
            <a:off x="7360920" y="2103120"/>
            <a:ext cx="1554480" cy="9144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7"/>
          <p:cNvSpPr/>
          <p:nvPr/>
        </p:nvSpPr>
        <p:spPr>
          <a:xfrm>
            <a:off x="7360920" y="2194560"/>
            <a:ext cx="15544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Décision finale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7415784" y="2514600"/>
            <a:ext cx="1444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AUTORISÉ ✔  — Notif push + email.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5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D5A8A"/>
                </a:solidFill>
                <a:latin typeface="Calibri"/>
                <a:ea typeface="Calibri"/>
                <a:cs typeface="Calibri"/>
                <a:sym typeface="Calibri"/>
              </a:rPr>
              <a:t>Si score &gt; 0.8 : BLOQUÉ + SMS d'alerte.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7498080" y="3090672"/>
            <a:ext cx="1280160" cy="40233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7"/>
          <p:cNvSpPr/>
          <p:nvPr/>
        </p:nvSpPr>
        <p:spPr>
          <a:xfrm>
            <a:off x="7498080" y="3090672"/>
            <a:ext cx="1280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(update)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Notification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228600" y="3611880"/>
            <a:ext cx="8686800" cy="292608"/>
          </a:xfrm>
          <a:prstGeom prst="rect">
            <a:avLst/>
          </a:prstGeom>
          <a:solidFill>
            <a:srgbClr val="3B1066"/>
          </a:solidFill>
          <a:ln cap="flat" cmpd="sng" w="12700">
            <a:solidFill>
              <a:srgbClr val="3B1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7"/>
          <p:cNvSpPr/>
          <p:nvPr/>
        </p:nvSpPr>
        <p:spPr>
          <a:xfrm>
            <a:off x="320040" y="3621024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⏱  Durée totale de A à E :  &lt; 50 millisecondes  —  soit moins de temps qu'un clignement d'œil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228600" y="4005072"/>
            <a:ext cx="8686800" cy="896112"/>
          </a:xfrm>
          <a:prstGeom prst="rect">
            <a:avLst/>
          </a:prstGeom>
          <a:solidFill>
            <a:srgbClr val="FDF4F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365760" y="40325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10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1066"/>
                </a:solidFill>
                <a:latin typeface="Calibri"/>
                <a:ea typeface="Calibri"/>
                <a:cs typeface="Calibri"/>
                <a:sym typeface="Calibri"/>
              </a:rPr>
              <a:t>🧠  Question de réflexion pour les étudiants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7"/>
          <p:cNvSpPr/>
          <p:nvPr/>
        </p:nvSpPr>
        <p:spPr>
          <a:xfrm>
            <a:off x="365760" y="4315968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Si la base SQL tombe en panne à l'étape 1 : </a:t>
            </a:r>
            <a:r>
              <a:rPr b="1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la transaction est-elle débitée ?  </a:t>
            </a:r>
            <a:r>
              <a:rPr b="1" i="1" lang="en-US" sz="1050" u="none" cap="none" strike="noStrike">
                <a:solidFill>
                  <a:srgbClr val="9333EA"/>
                </a:solidFill>
                <a:latin typeface="Calibri"/>
                <a:ea typeface="Calibri"/>
                <a:cs typeface="Calibri"/>
                <a:sym typeface="Calibri"/>
              </a:rPr>
              <a:t>→ ACID &amp; Atomicité : non, elle est rollbackée.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5" name="Google Shape;47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0A38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qu'il faut retenir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3" name="Google Shape;483;p8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noFill/>
          <a:ln cap="flat" cmpd="sng" w="254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8"/>
          <p:cNvSpPr/>
          <p:nvPr/>
        </p:nvSpPr>
        <p:spPr>
          <a:xfrm>
            <a:off x="457200" y="1097280"/>
            <a:ext cx="4160520" cy="160020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8"/>
          <p:cNvSpPr/>
          <p:nvPr/>
        </p:nvSpPr>
        <p:spPr>
          <a:xfrm>
            <a:off x="457200" y="1097280"/>
            <a:ext cx="640080" cy="1600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8"/>
          <p:cNvSpPr/>
          <p:nvPr/>
        </p:nvSpPr>
        <p:spPr>
          <a:xfrm>
            <a:off x="457200" y="1097280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8"/>
          <p:cNvSpPr/>
          <p:nvPr/>
        </p:nvSpPr>
        <p:spPr>
          <a:xfrm>
            <a:off x="1188720" y="128016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SQL = fondation incontournable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8"/>
          <p:cNvSpPr/>
          <p:nvPr/>
        </p:nvSpPr>
        <p:spPr>
          <a:xfrm>
            <a:off x="1188720" y="1691640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Les bases relationnelles restent le cœur des systèmes bancaires. ACID n'est pas optionnel en finance.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/>
          <p:nvPr/>
        </p:nvSpPr>
        <p:spPr>
          <a:xfrm>
            <a:off x="4892040" y="1097280"/>
            <a:ext cx="4160520" cy="160020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8"/>
          <p:cNvSpPr/>
          <p:nvPr/>
        </p:nvSpPr>
        <p:spPr>
          <a:xfrm>
            <a:off x="4892040" y="1097280"/>
            <a:ext cx="640080" cy="1600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4892040" y="1097280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5623560" y="128016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NoSQL comble les lacunes du 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5623560" y="1691640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Time-Series pour le marché, Graphe pour la fraude, Document pour la flexibilité. Chaque outil a sa niche.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457200" y="2834640"/>
            <a:ext cx="4160520" cy="160020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8"/>
          <p:cNvSpPr/>
          <p:nvPr/>
        </p:nvSpPr>
        <p:spPr>
          <a:xfrm>
            <a:off x="457200" y="2834640"/>
            <a:ext cx="640080" cy="1600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"/>
          <p:cNvSpPr/>
          <p:nvPr/>
        </p:nvSpPr>
        <p:spPr>
          <a:xfrm>
            <a:off x="457200" y="2834640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1188720" y="30175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L'architecture, c'est une décision métier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1188720" y="3429000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Choisir une base de données impacte la rentabilité, le risque, la conformité réglementaire. C'est stratégique.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4892040" y="2834640"/>
            <a:ext cx="4160520" cy="1600200"/>
          </a:xfrm>
          <a:prstGeom prst="rect">
            <a:avLst/>
          </a:prstGeom>
          <a:solidFill>
            <a:srgbClr val="2D1058"/>
          </a:solidFill>
          <a:ln cap="flat" cmpd="sng" w="12700">
            <a:solidFill>
              <a:srgbClr val="5B21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8"/>
          <p:cNvSpPr/>
          <p:nvPr/>
        </p:nvSpPr>
        <p:spPr>
          <a:xfrm>
            <a:off x="4892040" y="2834640"/>
            <a:ext cx="640080" cy="1600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8"/>
          <p:cNvSpPr/>
          <p:nvPr/>
        </p:nvSpPr>
        <p:spPr>
          <a:xfrm>
            <a:off x="4892040" y="2834640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5623560" y="3017520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46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946EF"/>
                </a:solidFill>
                <a:latin typeface="Calibri"/>
                <a:ea typeface="Calibri"/>
                <a:cs typeface="Calibri"/>
                <a:sym typeface="Calibri"/>
              </a:rPr>
              <a:t>La sécurité n'est pas une option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5623560" y="3429000"/>
            <a:ext cx="3337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9FE"/>
                </a:solidFill>
                <a:latin typeface="Calibri"/>
                <a:ea typeface="Calibri"/>
                <a:cs typeface="Calibri"/>
                <a:sym typeface="Calibri"/>
              </a:rPr>
              <a:t>Chiffrement, IAM, audit — c'est la loi (RGPD, CSSF). Une fuite de données = risque existentiel pour une banque.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D946EF"/>
          </a:solidFill>
          <a:ln cap="flat" cmpd="sng" w="12700">
            <a:solidFill>
              <a:srgbClr val="D94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"/>
          <p:cNvSpPr/>
          <p:nvPr/>
        </p:nvSpPr>
        <p:spPr>
          <a:xfrm>
            <a:off x="274320" y="4700016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0A3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0A38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 ·  Sitraka @ POST Luxembourg  ·  IAE Metz – Master 1 Finance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925" y="0"/>
            <a:ext cx="832073" cy="5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480277"/>
      </a:dk1>
      <a:lt1>
        <a:srgbClr val="FFFFFF"/>
      </a:lt1>
      <a:dk2>
        <a:srgbClr val="000000"/>
      </a:dk2>
      <a:lt2>
        <a:srgbClr val="757575"/>
      </a:lt2>
      <a:accent1>
        <a:srgbClr val="480277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2026-03-05T21:54:34Z</dcterms:created>
  <dc:creator>Sitraka – Enterprise System Architect @ POST Luxembourg</dc:creator>
</cp:coreProperties>
</file>